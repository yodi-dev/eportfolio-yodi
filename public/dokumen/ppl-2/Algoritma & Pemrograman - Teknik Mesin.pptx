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E0B"/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95387" y="2550765"/>
            <a:ext cx="9801225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>
                <a:solidFill>
                  <a:srgbClr val="F8FAFC"/>
                </a:solidFill>
                <a:latin typeface="Poppins"/>
              </a:rPr>
              <a:t>Algoritma &amp; Pemrograman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8750" y="3750915"/>
            <a:ext cx="9334500" cy="328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Lato"/>
              </a:rPr>
              <a:t>Review Singkat &amp; Pelurusan Konsep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57400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57400"/>
            <a:ext cx="52863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Mari gunakan analogi di bengkel mesin: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325" y="250507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505075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Lato"/>
              </a:rPr>
              <a:t>Program: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Ibarat "Buku Manual Instruksi". Ini adalah hasil akhir yang siap digunakan (berisi SOP).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32575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257550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Lato"/>
              </a:rPr>
              <a:t>Pemrograman: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Proses mekaniknya. Ini adalah proses "menulis" SOP atau merakit mesin dari nol.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40100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010025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Lato"/>
              </a:rPr>
              <a:t>Bahasa Pemrograman: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Bahasa (simbol/kode) yang tertulis di buku manual tersebut agar dimengerti oleh mesin/komputer.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76450"/>
            <a:ext cx="5248275" cy="3771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59E0B"/>
                </a:solidFill>
                <a:latin typeface="Poppins SemiBold"/>
              </a:rPr>
              <a:t>Program vs. Pemrograman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28837"/>
            <a:ext cx="3429000" cy="3667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128837"/>
            <a:ext cx="3429000" cy="3667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128837"/>
            <a:ext cx="3429000" cy="3667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0896" y="3443287"/>
            <a:ext cx="165020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F8FAFC"/>
                </a:solidFill>
                <a:latin typeface="Poppins SemiBold"/>
              </a:rPr>
              <a:t>Algoritma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043362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Teks langkah demi langkah yang logis dan berurutan. Menggunakan bahasa sehari-hari yang mudah dipahami manusia.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0874" y="3443287"/>
            <a:ext cx="20102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F8FAFC"/>
                </a:solidFill>
                <a:latin typeface="Poppins SemiBold"/>
              </a:rPr>
              <a:t>Pseudocode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4043362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Bahasa perantara. Strukturnya mirip kode program sungguhan, tapi masih menggunakan kata-kata sederhana (IF, THEN, READ).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00899" y="3443287"/>
            <a:ext cx="161020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F8FAFC"/>
                </a:solidFill>
                <a:latin typeface="Poppins SemiBold"/>
              </a:rPr>
              <a:t>Flowchart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4043362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Diagram visual. Menggunakan simbol-simbol standar internasional untuk memetakan alur sebuah proses atau program.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250" y="2586037"/>
            <a:ext cx="571500" cy="571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8812" y="2586037"/>
            <a:ext cx="714375" cy="571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2150" y="2586037"/>
            <a:ext cx="6477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59E0B"/>
                </a:solidFill>
                <a:latin typeface="Poppins SemiBold"/>
              </a:rPr>
              <a:t>3 Cara Menulis Logika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19300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19300"/>
            <a:ext cx="52863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Lato"/>
              </a:rPr>
              <a:t>Studi Kasus: Pengoperasian Mesin CNC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466975"/>
            <a:ext cx="5286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Urutan langkah (Algoritma) harus runtut. Jika ditukar, mesin bisa rusak atau membahayakan operator.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32194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219450"/>
            <a:ext cx="50482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Mulai.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6671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667125"/>
            <a:ext cx="50482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Pastikan tegangan arus listrik stabil.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41148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114800"/>
            <a:ext cx="50482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Jika tegangan tidak stabil, laporkan ke teknisi.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456247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562475"/>
            <a:ext cx="50482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Jika stabil, tekan tombol Power 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" y="50101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5010150"/>
            <a:ext cx="50482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Lakukan kalibrasi sumbu X, Y, Z.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54578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5457825"/>
            <a:ext cx="50482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Selesai (Mesin siap digunakan).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38350"/>
            <a:ext cx="5248275" cy="3771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59E0B"/>
                </a:solidFill>
                <a:latin typeface="Poppins SemiBold"/>
              </a:rPr>
              <a:t>1. Algoritma (Teks Logis)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1607939"/>
          <a:ext cx="11049000" cy="4708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1784">
                <a:tc>
                  <a:txBody>
                    <a:bodyPr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8FAFC"/>
                          </a:solidFill>
                          <a:latin typeface="Poppins"/>
                        </a:rPr>
                        <a:t>Bentuk Simbol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8FAFC"/>
                          </a:solidFill>
                          <a:latin typeface="Poppins"/>
                        </a:rPr>
                        <a:t>Nama Simbol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8FAFC"/>
                          </a:solidFill>
                          <a:latin typeface="Poppins"/>
                        </a:rPr>
                        <a:t>Fungsi / Kegunaan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1784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Lato"/>
                        </a:rPr>
                        <a:t>
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Lato"/>
                        </a:rPr>
                        <a:t>Terminator</a:t>
                      </a:r>
                      <a:r>
                        <a:rPr sz="1500" b="0" i="0" u="none">
                          <a:solidFill>
                            <a:srgbClr val="CBD5E1"/>
                          </a:solidFill>
                          <a:latin typeface="Lato"/>
                        </a:rPr>
                        <a:t> (Oval)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Lato"/>
                        </a:rPr>
                        <a:t>Menandai Titik AWAL (Start) dan AKHIR (End) sebuah program.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1784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Lato"/>
                        </a:rPr>
                        <a:t>
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Lato"/>
                        </a:rPr>
                        <a:t>Data / I/O</a:t>
                      </a:r>
                      <a:r>
                        <a:rPr sz="1500" b="0" i="0" u="none">
                          <a:solidFill>
                            <a:srgbClr val="CBD5E1"/>
                          </a:solidFill>
                          <a:latin typeface="Lato"/>
                        </a:rPr>
                        <a:t> (Jajaran Genjang)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Lato"/>
                        </a:rPr>
                        <a:t>Mewakili proses Input (memasukkan data) atau Output (menampilkan hasil).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1784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Lato"/>
                        </a:rPr>
                        <a:t>
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Lato"/>
                        </a:rPr>
                        <a:t>Process</a:t>
                      </a:r>
                      <a:r>
                        <a:rPr sz="1500" b="0" i="0" u="none">
                          <a:solidFill>
                            <a:srgbClr val="CBD5E1"/>
                          </a:solidFill>
                          <a:latin typeface="Lato"/>
                        </a:rPr>
                        <a:t> (Persegi Panjang)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Lato"/>
                        </a:rPr>
                        <a:t>Menunjukkan sebuah tindakan, perhitungan, atau pemrosesan instruksi.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178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Lato"/>
                        </a:rPr>
                        <a:t>
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Lato"/>
                        </a:rPr>
                        <a:t>Decision</a:t>
                      </a:r>
                      <a:r>
                        <a:rPr sz="1500" b="0" i="0" u="none">
                          <a:solidFill>
                            <a:srgbClr val="CBD5E1"/>
                          </a:solidFill>
                          <a:latin typeface="Lato"/>
                        </a:rPr>
                        <a:t> (Belah Ketupat)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Lato"/>
                        </a:rPr>
                        <a:t>Titik pengambilan keputusan yang menghasilkan cabang (Ya / Tidak).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644973"/>
            <a:ext cx="165735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28850" y="2644973"/>
            <a:ext cx="33147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543550" y="2644973"/>
            <a:ext cx="607695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397448"/>
            <a:ext cx="1657350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28850" y="3397448"/>
            <a:ext cx="3314700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43550" y="3397448"/>
            <a:ext cx="6076950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397573"/>
            <a:ext cx="1657350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28850" y="4397573"/>
            <a:ext cx="3314700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43550" y="4397573"/>
            <a:ext cx="6076950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5397698"/>
            <a:ext cx="1657350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28850" y="5397698"/>
            <a:ext cx="3314700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43550" y="5397698"/>
            <a:ext cx="6076950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9175" y="2878335"/>
            <a:ext cx="762000" cy="333375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06130" y="3740348"/>
            <a:ext cx="788088" cy="333375"/>
          </a:xfrm>
          <a:prstGeom prst="rect">
            <a:avLst/>
          </a:prstGeom>
          <a:noFill/>
          <a:ln w="285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19175" y="4740473"/>
            <a:ext cx="762000" cy="333375"/>
          </a:xfrm>
          <a:prstGeom prst="rect">
            <a:avLst/>
          </a:prstGeom>
          <a:noFill/>
          <a:ln w="285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7091" y="5561339"/>
            <a:ext cx="606167" cy="606167"/>
          </a:xfrm>
          <a:prstGeom prst="rect">
            <a:avLst/>
          </a:prstGeom>
          <a:noFill/>
          <a:ln w="285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541139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59E0B"/>
                </a:solidFill>
                <a:latin typeface="Poppins SemiBold"/>
              </a:rPr>
              <a:t>2. Simbol Wajib Flowchart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207889"/>
            <a:ext cx="11049000" cy="19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0C3BB9-2C26-B37D-EF0D-F3CFDEE03402}"/>
              </a:ext>
            </a:extLst>
          </p:cNvPr>
          <p:cNvSpPr/>
          <p:nvPr/>
        </p:nvSpPr>
        <p:spPr>
          <a:xfrm>
            <a:off x="914400" y="3695461"/>
            <a:ext cx="1087120" cy="5038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" name="Parallelogram 22">
            <a:extLst>
              <a:ext uri="{FF2B5EF4-FFF2-40B4-BE49-F238E27FC236}">
                <a16:creationId xmlns:a16="http://schemas.microsoft.com/office/drawing/2014/main" id="{82AA7F3A-063D-A3CE-EE95-E34E46054016}"/>
              </a:ext>
            </a:extLst>
          </p:cNvPr>
          <p:cNvSpPr/>
          <p:nvPr/>
        </p:nvSpPr>
        <p:spPr>
          <a:xfrm>
            <a:off x="960265" y="3740348"/>
            <a:ext cx="879818" cy="323850"/>
          </a:xfrm>
          <a:prstGeom prst="parallelogram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D45A9C-5240-9F37-B9F0-FFBB7096FA75}"/>
              </a:ext>
            </a:extLst>
          </p:cNvPr>
          <p:cNvSpPr/>
          <p:nvPr/>
        </p:nvSpPr>
        <p:spPr>
          <a:xfrm>
            <a:off x="809178" y="5478198"/>
            <a:ext cx="1249680" cy="8004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" name="Flowchart: Decision 25">
            <a:extLst>
              <a:ext uri="{FF2B5EF4-FFF2-40B4-BE49-F238E27FC236}">
                <a16:creationId xmlns:a16="http://schemas.microsoft.com/office/drawing/2014/main" id="{F9F3BCB0-37DA-3D3A-E24A-3B6DA72F690B}"/>
              </a:ext>
            </a:extLst>
          </p:cNvPr>
          <p:cNvSpPr/>
          <p:nvPr/>
        </p:nvSpPr>
        <p:spPr>
          <a:xfrm>
            <a:off x="951418" y="5650111"/>
            <a:ext cx="904429" cy="864948"/>
          </a:xfrm>
          <a:prstGeom prst="flowChartDecision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D431FB65-7DDC-FFCF-1BA5-59344DF48B04}"/>
              </a:ext>
            </a:extLst>
          </p:cNvPr>
          <p:cNvSpPr/>
          <p:nvPr/>
        </p:nvSpPr>
        <p:spPr>
          <a:xfrm>
            <a:off x="4826000" y="955040"/>
            <a:ext cx="1788160" cy="66040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Panaskan air</a:t>
            </a:r>
            <a:endParaRPr lang="id-ID"/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62608297-B694-563F-0EA4-FB6153AFB39C}"/>
              </a:ext>
            </a:extLst>
          </p:cNvPr>
          <p:cNvSpPr/>
          <p:nvPr/>
        </p:nvSpPr>
        <p:spPr>
          <a:xfrm>
            <a:off x="4399280" y="2489200"/>
            <a:ext cx="2641600" cy="1635760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Apakah air sudah panas</a:t>
            </a:r>
            <a:endParaRPr lang="id-ID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ED70A3F-D8D6-DEC5-6C2E-3657D4CCAF53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5720080" y="1615440"/>
            <a:ext cx="0" cy="873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EE71A4D-4707-2C7E-807C-5BA231661B12}"/>
              </a:ext>
            </a:extLst>
          </p:cNvPr>
          <p:cNvSpPr txBox="1"/>
          <p:nvPr/>
        </p:nvSpPr>
        <p:spPr>
          <a:xfrm>
            <a:off x="7347917" y="2216388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Tidak</a:t>
            </a:r>
            <a:endParaRPr lang="id-ID"/>
          </a:p>
        </p:txBody>
      </p:sp>
      <p:sp>
        <p:nvSpPr>
          <p:cNvPr id="11" name="Flowchart: Data 10">
            <a:extLst>
              <a:ext uri="{FF2B5EF4-FFF2-40B4-BE49-F238E27FC236}">
                <a16:creationId xmlns:a16="http://schemas.microsoft.com/office/drawing/2014/main" id="{07A5BCC9-5E8E-4D1F-382F-E25C363F51D5}"/>
              </a:ext>
            </a:extLst>
          </p:cNvPr>
          <p:cNvSpPr/>
          <p:nvPr/>
        </p:nvSpPr>
        <p:spPr>
          <a:xfrm>
            <a:off x="4287520" y="5242560"/>
            <a:ext cx="2489200" cy="612648"/>
          </a:xfrm>
          <a:prstGeom prst="flowChartInputOutp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Masukkan mie</a:t>
            </a:r>
            <a:endParaRPr lang="id-ID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96DB28-A86F-7D94-3F0A-961FA5E11A97}"/>
              </a:ext>
            </a:extLst>
          </p:cNvPr>
          <p:cNvCxnSpPr>
            <a:stCxn id="3" idx="2"/>
            <a:endCxn id="11" idx="0"/>
          </p:cNvCxnSpPr>
          <p:nvPr/>
        </p:nvCxnSpPr>
        <p:spPr>
          <a:xfrm>
            <a:off x="5720080" y="4124960"/>
            <a:ext cx="60960" cy="1117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B5DF723-68E2-1C40-9353-8A16F3E23CD8}"/>
              </a:ext>
            </a:extLst>
          </p:cNvPr>
          <p:cNvSpPr txBox="1"/>
          <p:nvPr/>
        </p:nvSpPr>
        <p:spPr>
          <a:xfrm>
            <a:off x="5927754" y="4629388"/>
            <a:ext cx="392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Ya</a:t>
            </a:r>
            <a:endParaRPr lang="id-ID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A4802F-50FE-7CD2-286B-76085B64D9A8}"/>
              </a:ext>
            </a:extLst>
          </p:cNvPr>
          <p:cNvCxnSpPr>
            <a:stCxn id="3" idx="3"/>
          </p:cNvCxnSpPr>
          <p:nvPr/>
        </p:nvCxnSpPr>
        <p:spPr>
          <a:xfrm flipV="1">
            <a:off x="7040880" y="3291840"/>
            <a:ext cx="1635760" cy="15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4FB79A07-DB7F-E45F-4E48-D139D795112F}"/>
              </a:ext>
            </a:extLst>
          </p:cNvPr>
          <p:cNvSpPr/>
          <p:nvPr/>
        </p:nvSpPr>
        <p:spPr>
          <a:xfrm>
            <a:off x="8788400" y="2890521"/>
            <a:ext cx="1788160" cy="66040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Panaskan air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5197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57400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57400"/>
            <a:ext cx="52863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Lato"/>
              </a:rPr>
              <a:t>Menerjemahkan Teks ke Simbol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505075"/>
            <a:ext cx="52863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Saat membuat flowchart, perhatikan bentuk bangun datarnya: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29527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952750"/>
            <a:ext cx="50482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Gunakan </a:t>
            </a:r>
            <a:r>
              <a:rPr sz="1500" b="1" i="0" u="none">
                <a:solidFill>
                  <a:srgbClr val="CBD5E1"/>
                </a:solidFill>
                <a:latin typeface="Lato"/>
              </a:rPr>
              <a:t>Oval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untuk tulisan "Mulai" dan "Selesai".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4004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400425"/>
            <a:ext cx="5048250" cy="9144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Gunakan </a:t>
            </a:r>
            <a:r>
              <a:rPr sz="1500" b="1" i="0" u="none">
                <a:solidFill>
                  <a:srgbClr val="CBD5E1"/>
                </a:solidFill>
                <a:latin typeface="Lato"/>
              </a:rPr>
              <a:t>Belah Ketupat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ketika ada pertanyaan bersyarat (Contoh: "Suhu Normal?"). Ingat, harus ada garis panah penunjuk YA dan TIDAK.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44577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457700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Garis panah (Flow Direction) menunjukkan arah jalannya proses dari atas ke bawah.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76450"/>
            <a:ext cx="5248275" cy="3771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59E0B"/>
                </a:solidFill>
                <a:latin typeface="Poppins SemiBold"/>
              </a:rPr>
              <a:t>Contoh Flowchart Visual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9262"/>
            <a:ext cx="5286375" cy="4486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719262"/>
            <a:ext cx="5286375" cy="4486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3614737"/>
            <a:ext cx="4505325" cy="2200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109787"/>
            <a:ext cx="4730591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CD34D"/>
                </a:solidFill>
                <a:latin typeface="Poppins SemiBold"/>
              </a:rPr>
              <a:t>Algoritma (Bahasa Manusia)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167062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Lato"/>
              </a:rPr>
              <a:t>Pengecekan Suhu Mesin: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2109787"/>
            <a:ext cx="4730591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CD34D"/>
                </a:solidFill>
                <a:latin typeface="Poppins SemiBold"/>
              </a:rPr>
              <a:t>Pseudocode (Mendekati Kode)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3167062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Lato"/>
              </a:rPr>
              <a:t>Pengecekan Suhu Mesin: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614737"/>
            <a:ext cx="152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614737"/>
            <a:ext cx="4314825" cy="3048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Baca suhu yang tertera pada panel mesin.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4062412"/>
            <a:ext cx="152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4062412"/>
            <a:ext cx="4314825" cy="6096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Jika suhu di atas 80 derajat Celcius, maka hidupkan kipas pendingin otomatis.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4814887"/>
            <a:ext cx="152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4814887"/>
            <a:ext cx="4314825" cy="6096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Namun jika suhu normal, lanjutkan operasi pemotongan material.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59E0B"/>
                </a:solidFill>
                <a:latin typeface="Poppins SemiBold"/>
              </a:rPr>
              <a:t>3. Algoritma vs. Pseudocode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453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Lato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yodi awan</cp:lastModifiedBy>
  <cp:revision>4</cp:revision>
  <dcterms:created xsi:type="dcterms:W3CDTF">2013-01-27T09:14:16Z</dcterms:created>
  <dcterms:modified xsi:type="dcterms:W3CDTF">2026-09-07T04:58:14Z</dcterms:modified>
  <cp:category/>
</cp:coreProperties>
</file>