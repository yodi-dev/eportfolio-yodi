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Buka dengan pertanyaan: Apakah tabel yang rapi selalu berisi data yang benar?</a:t>
            </a:r>
          </a:p>
          <a:p>
            <a:r>
              <a:t>Minta dua atau tiga siswa memberi contoh masalah data yang pernah mereka lihat.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Tekankan bahwa kata kerja utama pada pertemuan ini adalah menerapkan.</a:t>
            </a:r>
          </a:p>
          <a:p>
            <a:r>
              <a:t>Capaian Pembelajaran Informatika Fase E memuat penerapan proses komputasi yang dilakukan manusia untuk mendapatkan data yang bersih, benar, dan terpercaya.</a:t>
            </a:r>
          </a:p>
          <a:p>
            <a:r>
              <a:t>Sumber: https://kurikulum.kemendikdasmen.go.id/file/1718851677_manage_file.pdf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Berikan contoh data yang formatnya sudah seragam tetapi isinya masih salah.</a:t>
            </a:r>
          </a:p>
          <a:p>
            <a:r>
              <a:t>Enam dimensi kualitas data yang dapat dipakai sebagai acuan adalah kelengkapan, keunikan, konsistensi, kebaruan, validitas, dan akurasi.</a:t>
            </a:r>
          </a:p>
          <a:p>
            <a:r>
              <a:t>Sumber: https://www.gov.uk/government/publications/the-government-data-quality-framework/the-government-data-quality-framework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Minta siswa menyebutkan tindakan yang mungkin dilakukan pada setiap masalah.</a:t>
            </a:r>
          </a:p>
          <a:p>
            <a:r>
              <a:t>Tekankan bahwa data pencilan dapat menjadi kesalahan, tetapi juga dapat menjadi temuan penting.</a:t>
            </a:r>
          </a:p>
          <a:p>
            <a:r>
              <a:t>Sumber materi: Modul Analisis Data, bagian F.4 Pemrosesan Data dan Pembersihan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Tunjukkan bahwa proses ini termasuk komputasi yang dilakukan manusia karena terdapat aturan, keputusan, dan urutan langkah.</a:t>
            </a:r>
          </a:p>
          <a:p>
            <a:r>
              <a:t>Pada praktik, siswa harus menyimpan data mentah dan bekerja pada salinannya.</a:t>
            </a:r>
          </a:p>
          <a:p>
            <a:r>
              <a:t>Sumber materi: Modul Analisis Data, bagian F.4 Siklus Hidup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Lakukan think aloud pada baris S01 dan S04.</a:t>
            </a:r>
          </a:p>
          <a:p>
            <a:r>
              <a:t>S01 dapat dikonversi menjadi 120 menit jika aturan kelompok memakai menit.</a:t>
            </a:r>
          </a:p>
          <a:p>
            <a:r>
              <a:t>S04 tidak boleh langsung diubah karena angka yang benar belum diketahui. Tandai untuk konfirmasi.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Bagi peran menjadi pemeriksa, pembersih, validator, dan pencatat perubahan.</a:t>
            </a:r>
          </a:p>
          <a:p>
            <a:r>
              <a:t>Minta kelompok saling memeriksa satu keputusan yang paling sulit.</a:t>
            </a:r>
          </a:p>
          <a:p>
            <a:r>
              <a:t>Tutup dengan refleksi: perubahan mana yang dapat dibuktikan dan mana yang masih memerlukan konfirmasi?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419290"/>
            <a:ext cx="609600" cy="6092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B65708-65CF-474E-ABC4-EBA1E7E33DE7}"/>
              </a:ext>
            </a:extLst>
          </p:cNvPr>
          <p:cNvSpPr>
            <a:spLocks noGrp="1"/>
          </p:cNvSpPr>
          <p:nvPr/>
        </p:nvSpPr>
        <p:spPr>
          <a:xfrm>
            <a:off x="1428750" y="4762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SMKN 3 YOGYAKARTA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0E0E0-CA5B-4347-9CAA-93AC647E8CDD}"/>
              </a:ext>
            </a:extLst>
          </p:cNvPr>
          <p:cNvSpPr>
            <a:spLocks noGrp="1"/>
          </p:cNvSpPr>
          <p:nvPr/>
        </p:nvSpPr>
        <p:spPr>
          <a:xfrm>
            <a:off x="1428750" y="7810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22DCC-D9B2-49EE-9FF6-FD76A8F38A3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405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Pembersihan dan</a:t>
            </a:r>
          </a:p>
          <a:p>
            <a:pPr algn="l">
              <a:lnSpc>
                <a:spcPct val="94000"/>
              </a:lnSpc>
              <a:buNone/>
              <a:defRPr sz="405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Validasi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2AEAD0-FAC3-4B5A-B61E-B0E4F7C3C986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Menghasilkan data yang bersih, benar, dan terpercaya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A69DC-B652-420D-86D6-E6D7A2D452FA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Yodi Irawan, S.Pd.</a:t>
            </a:r>
          </a:p>
        </p:txBody>
      </p:sp>
    </p:spTree>
    <p:extLst>
      <p:ext uri="{BB962C8B-B14F-4D97-AF65-F5344CB8AC3E}">
        <p14:creationId xmlns:p14="http://schemas.microsoft.com/office/powerpoint/2010/main" val="800373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1F5467-4357-4434-B4A5-596BAFDC4D9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Tujuan Pembelajaran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70D7C-DD02-4FDC-A6E2-EE75BA7CF151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Kemampuan yang akan terlihat pada hasil kerja kelompok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5700" y="266843"/>
            <a:ext cx="457200" cy="4569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14EA83-67AC-4FE1-8162-FE20C8AFE360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1BACE-5F05-46A5-9B9C-B6AAE3DE5AF6}"/>
              </a:ext>
            </a:extLst>
          </p:cNvPr>
          <p:cNvSpPr>
            <a:spLocks noGrp="1"/>
          </p:cNvSpPr>
          <p:nvPr/>
        </p:nvSpPr>
        <p:spPr>
          <a:xfrm>
            <a:off x="1809750" y="17335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Mengidentifikasi masalah kualitas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57EDE-6B92-419B-920D-362AC6722B58}"/>
              </a:ext>
            </a:extLst>
          </p:cNvPr>
          <p:cNvSpPr>
            <a:spLocks noGrp="1"/>
          </p:cNvSpPr>
          <p:nvPr/>
        </p:nvSpPr>
        <p:spPr>
          <a:xfrm>
            <a:off x="1809750" y="213360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Menemukan data kosong, ganda, tidak konsisten, atau tidak valid.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377F4-61AF-470F-A400-514B080EE04F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A7A7EB-A813-481C-81EB-3FF9E975C1D2}"/>
              </a:ext>
            </a:extLst>
          </p:cNvPr>
          <p:cNvSpPr>
            <a:spLocks noGrp="1"/>
          </p:cNvSpPr>
          <p:nvPr/>
        </p:nvSpPr>
        <p:spPr>
          <a:xfrm>
            <a:off x="1809750" y="30670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Menerapkan aturan pembersihan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55AAB2-AAA2-4A0E-8035-F8F1061392BB}"/>
              </a:ext>
            </a:extLst>
          </p:cNvPr>
          <p:cNvSpPr>
            <a:spLocks noGrp="1"/>
          </p:cNvSpPr>
          <p:nvPr/>
        </p:nvSpPr>
        <p:spPr>
          <a:xfrm>
            <a:off x="1809750" y="346710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Menyeragamkan dan memperbaiki data berdasarkan aturan yang disepakati.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9A4B72-DB1E-429F-B59C-A16F83445110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8B64DB-012C-4586-9B63-169E3507AAB0}"/>
              </a:ext>
            </a:extLst>
          </p:cNvPr>
          <p:cNvSpPr>
            <a:spLocks noGrp="1"/>
          </p:cNvSpPr>
          <p:nvPr/>
        </p:nvSpPr>
        <p:spPr>
          <a:xfrm>
            <a:off x="1809750" y="44005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Menjelaskan setiap perubahan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DBC6D3-D4E9-447B-B06B-353090C4E503}"/>
              </a:ext>
            </a:extLst>
          </p:cNvPr>
          <p:cNvSpPr>
            <a:spLocks noGrp="1"/>
          </p:cNvSpPr>
          <p:nvPr/>
        </p:nvSpPr>
        <p:spPr>
          <a:xfrm>
            <a:off x="1809750" y="480060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Mencatat nilai awal, tindakan, hasil, alasan, dan cara verifikasi.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B66318-434D-48F8-B05D-8D857B8F30D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E3504B-DC01-42DE-BE34-D28C2ED889F8}"/>
              </a:ext>
            </a:extLst>
          </p:cNvPr>
          <p:cNvSpPr>
            <a:spLocks noGrp="1"/>
          </p:cNvSpPr>
          <p:nvPr/>
        </p:nvSpPr>
        <p:spPr>
          <a:xfrm>
            <a:off x="11391900" y="647700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396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E8F4F-6B31-4F6D-80C8-982EFB7509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Bersih, Benar, dan Terpercaya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F306-61BB-4B6B-9D13-C55921E147C0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Ketiganya perlu diperiksa dengan pertanyaan yang berbeda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5700" y="266843"/>
            <a:ext cx="457200" cy="4569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EB07D9-BBFD-4020-9FEF-06D6C32465A2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5E0CA-54BB-40AF-9898-22B67267C899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BERSIH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BA67AA-097C-47E5-97B8-F4A52D8E495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3143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Format seragam, duplikasi terkendali, dan data siap diolah.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B496F-EF7E-4243-A91E-B88F2B31DAFD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1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650" b="1" i="1">
                <a:solidFill>
                  <a:srgbClr val="0F5135"/>
                </a:solidFill>
                <a:latin typeface="Aptos"/>
                <a:ea typeface="Aptos"/>
                <a:cs typeface="Aptos"/>
              </a:rPr>
              <a:t>Apakah tabel konsisten dan mudah diproses?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8931F7-554A-4C7C-9C87-54A442A0F503}"/>
              </a:ext>
            </a:extLst>
          </p:cNvPr>
          <p:cNvSpPr>
            <a:spLocks noGrp="1"/>
          </p:cNvSpPr>
          <p:nvPr/>
        </p:nvSpPr>
        <p:spPr>
          <a:xfrm>
            <a:off x="4333875" y="166687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EEA99A-2E9F-41AA-909E-425E648FFE54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BENAR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C7CE50-0C07-4F1C-A65E-BA377EA24F92}"/>
              </a:ext>
            </a:extLst>
          </p:cNvPr>
          <p:cNvSpPr>
            <a:spLocks noGrp="1"/>
          </p:cNvSpPr>
          <p:nvPr/>
        </p:nvSpPr>
        <p:spPr>
          <a:xfrm>
            <a:off x="4333875" y="2857500"/>
            <a:ext cx="3143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Nilai sesuai fakta, aturan, atau sumber asli yang dapat diperiksa.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5D868E-0858-419A-B873-5FB9B6F7C22C}"/>
              </a:ext>
            </a:extLst>
          </p:cNvPr>
          <p:cNvSpPr>
            <a:spLocks noGrp="1"/>
          </p:cNvSpPr>
          <p:nvPr/>
        </p:nvSpPr>
        <p:spPr>
          <a:xfrm>
            <a:off x="4333875" y="4333875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1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650" b="1" i="1">
                <a:solidFill>
                  <a:srgbClr val="0F5135"/>
                </a:solidFill>
                <a:latin typeface="Aptos"/>
                <a:ea typeface="Aptos"/>
                <a:cs typeface="Aptos"/>
              </a:rPr>
              <a:t>Apakah nilai ini dapat dibuktikan?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C838F-A595-4571-A9B0-E2E8B60E34A8}"/>
              </a:ext>
            </a:extLst>
          </p:cNvPr>
          <p:cNvSpPr>
            <a:spLocks noGrp="1"/>
          </p:cNvSpPr>
          <p:nvPr/>
        </p:nvSpPr>
        <p:spPr>
          <a:xfrm>
            <a:off x="8001000" y="1666875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6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456A4-BA99-4AC1-A61E-5A6705E78DA0}"/>
              </a:ext>
            </a:extLst>
          </p:cNvPr>
          <p:cNvSpPr>
            <a:spLocks noGrp="1"/>
          </p:cNvSpPr>
          <p:nvPr/>
        </p:nvSpPr>
        <p:spPr>
          <a:xfrm>
            <a:off x="800100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TERPERCAYA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675D7-D23C-43C7-B083-D326B6A4E8DC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3143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Asal data, cara pengumpulan, dan perubahan dapat ditelusuri.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CC1638-AAD8-4CFA-B265-FC6F42A5D4CA}"/>
              </a:ext>
            </a:extLst>
          </p:cNvPr>
          <p:cNvSpPr>
            <a:spLocks noGrp="1"/>
          </p:cNvSpPr>
          <p:nvPr/>
        </p:nvSpPr>
        <p:spPr>
          <a:xfrm>
            <a:off x="8001000" y="4333875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1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650" b="1" i="1">
                <a:solidFill>
                  <a:srgbClr val="0F5135"/>
                </a:solidFill>
                <a:latin typeface="Aptos"/>
                <a:ea typeface="Aptos"/>
                <a:cs typeface="Aptos"/>
              </a:rPr>
              <a:t>Siapa sumbernya dan apa yang sudah diubah?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E2E438-1DAE-4E16-8307-3AFF955B2BDE}"/>
              </a:ext>
            </a:extLst>
          </p:cNvPr>
          <p:cNvSpPr>
            <a:spLocks noGrp="1"/>
          </p:cNvSpPr>
          <p:nvPr/>
        </p:nvSpPr>
        <p:spPr>
          <a:xfrm>
            <a:off x="666750" y="5848350"/>
            <a:ext cx="857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Kerapian hanya satu bagian dari kualitas data.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B204C-710A-402B-9331-005A82EA94D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3F179F-2F25-4F5D-BF8C-4BE48FFF0075}"/>
              </a:ext>
            </a:extLst>
          </p:cNvPr>
          <p:cNvSpPr>
            <a:spLocks noGrp="1"/>
          </p:cNvSpPr>
          <p:nvPr/>
        </p:nvSpPr>
        <p:spPr>
          <a:xfrm>
            <a:off x="11391900" y="647700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23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E2F035-9F4F-46E3-BE38-CF298AC0CE4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Masalah yang Perlu Ditemukan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579B2C-59A1-4A8A-89DB-0583A3DEA9FE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Satu masalah dapat membutuhkan tindakan yang berbeda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5700" y="266843"/>
            <a:ext cx="457200" cy="456914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666750" y="1619250"/>
          <a:ext cx="10858500" cy="409575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MASALAH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CONTOH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TINDAKAN AWAL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Data kosong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Durasi tidak diisi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Tandai dan konfirmasi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Data ganda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Baris S03 muncul dua kali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Bandingkan seluruh kolom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Format berbeda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09/09/2026 dan 2026-09-09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Tetapkan format baku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Kategori tidak seragam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YouTube, youtube, YT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Gunakan daftar kategori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Nilai tidak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Durasi 25 jam per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Periksa rentang dan sumber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t>Kesalahan ketik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Matematiak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Perbaiki jika ada bukti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4DC1BEC-4E18-4EA9-8AD1-B0D71E61A5B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Jangan langsung menghapus data yang terlihat aneh. Periksa konteks dan sumbernya.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1909E-2818-4320-8303-53D5C8A6E54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EEC01-F388-4E6C-9A5B-BA51D2F9F500}"/>
              </a:ext>
            </a:extLst>
          </p:cNvPr>
          <p:cNvSpPr>
            <a:spLocks noGrp="1"/>
          </p:cNvSpPr>
          <p:nvPr/>
        </p:nvSpPr>
        <p:spPr>
          <a:xfrm>
            <a:off x="11391900" y="647700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52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06A349B-21D1-4D2B-96F7-1DCE8EC0388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Proses Pemeriksaan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70518C-5CAF-4C09-B910-30BD3546C810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Urutan kerja manusia sebelum data digunakan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5700" y="266843"/>
            <a:ext cx="457200" cy="4569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B92883-BE44-47C5-AE47-635518F0E1C9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E8FA2-1325-4D72-9FB8-22E0320612A6}"/>
              </a:ext>
            </a:extLst>
          </p:cNvPr>
          <p:cNvSpPr>
            <a:spLocks noGrp="1"/>
          </p:cNvSpPr>
          <p:nvPr/>
        </p:nvSpPr>
        <p:spPr>
          <a:xfrm>
            <a:off x="1600200" y="157162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Tetapkan tujuan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16567D-C47C-4B62-B294-899AEE93A278}"/>
              </a:ext>
            </a:extLst>
          </p:cNvPr>
          <p:cNvSpPr>
            <a:spLocks noGrp="1"/>
          </p:cNvSpPr>
          <p:nvPr/>
        </p:nvSpPr>
        <p:spPr>
          <a:xfrm>
            <a:off x="1600200" y="2009775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Tentukan informasi dan kolom yang diperlukan.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EAAC5-36F5-4432-A17E-3BBEA1E49961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6EE9AD-7219-4EF5-87ED-ED162A367C89}"/>
              </a:ext>
            </a:extLst>
          </p:cNvPr>
          <p:cNvSpPr>
            <a:spLocks noGrp="1"/>
          </p:cNvSpPr>
          <p:nvPr/>
        </p:nvSpPr>
        <p:spPr>
          <a:xfrm>
            <a:off x="1600200" y="3048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Periksa data mentah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F1878E-A5B3-4BEA-BD52-B660B7A98672}"/>
              </a:ext>
            </a:extLst>
          </p:cNvPr>
          <p:cNvSpPr>
            <a:spLocks noGrp="1"/>
          </p:cNvSpPr>
          <p:nvPr/>
        </p:nvSpPr>
        <p:spPr>
          <a:xfrm>
            <a:off x="1600200" y="348615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Baca tabel tanpa mengubahnya.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FA44-10D0-40D4-BCD6-2BD87D7DBB59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2E7E9-FF2E-4C3D-891E-06C42BD2EABB}"/>
              </a:ext>
            </a:extLst>
          </p:cNvPr>
          <p:cNvSpPr>
            <a:spLocks noGrp="1"/>
          </p:cNvSpPr>
          <p:nvPr/>
        </p:nvSpPr>
        <p:spPr>
          <a:xfrm>
            <a:off x="1600200" y="452437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Identifikasi masalah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0605B-CC7C-4130-8283-FF896EFE4C70}"/>
              </a:ext>
            </a:extLst>
          </p:cNvPr>
          <p:cNvSpPr>
            <a:spLocks noGrp="1"/>
          </p:cNvSpPr>
          <p:nvPr/>
        </p:nvSpPr>
        <p:spPr>
          <a:xfrm>
            <a:off x="1600200" y="4962525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Kelompokkan jenis masalah kualitas.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529597-5FD2-4DFF-BC07-A24A6C08E289}"/>
              </a:ext>
            </a:extLst>
          </p:cNvPr>
          <p:cNvSpPr>
            <a:spLocks noGrp="1"/>
          </p:cNvSpPr>
          <p:nvPr/>
        </p:nvSpPr>
        <p:spPr>
          <a:xfrm>
            <a:off x="6334125" y="1571625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96BF55-66C5-4C15-A388-7DBFED926536}"/>
              </a:ext>
            </a:extLst>
          </p:cNvPr>
          <p:cNvSpPr>
            <a:spLocks noGrp="1"/>
          </p:cNvSpPr>
          <p:nvPr/>
        </p:nvSpPr>
        <p:spPr>
          <a:xfrm>
            <a:off x="7191375" y="157162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Buat aturan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14210D-59FF-42DC-9A3C-FE728CFB526B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Sepakati format, rentang, dan kategori.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E7151A-4890-4C47-BD6A-EA2D6E44BE6A}"/>
              </a:ext>
            </a:extLst>
          </p:cNvPr>
          <p:cNvSpPr>
            <a:spLocks noGrp="1"/>
          </p:cNvSpPr>
          <p:nvPr/>
        </p:nvSpPr>
        <p:spPr>
          <a:xfrm>
            <a:off x="6334125" y="304800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91047B-ACCF-424C-A6BE-7EECB8836507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Terapkan dan validasi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A6408B-9D90-485F-B166-DAD9CE0AE852}"/>
              </a:ext>
            </a:extLst>
          </p:cNvPr>
          <p:cNvSpPr>
            <a:spLocks noGrp="1"/>
          </p:cNvSpPr>
          <p:nvPr/>
        </p:nvSpPr>
        <p:spPr>
          <a:xfrm>
            <a:off x="7191375" y="348615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Ubah salinan lalu periksa kembali.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A9DF58-3C6D-487A-95A3-B4751439AD51}"/>
              </a:ext>
            </a:extLst>
          </p:cNvPr>
          <p:cNvSpPr>
            <a:spLocks noGrp="1"/>
          </p:cNvSpPr>
          <p:nvPr/>
        </p:nvSpPr>
        <p:spPr>
          <a:xfrm>
            <a:off x="6334125" y="4524375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A38962-5EC1-4DA7-839D-10988F590D32}"/>
              </a:ext>
            </a:extLst>
          </p:cNvPr>
          <p:cNvSpPr>
            <a:spLocks noGrp="1"/>
          </p:cNvSpPr>
          <p:nvPr/>
        </p:nvSpPr>
        <p:spPr>
          <a:xfrm>
            <a:off x="7191375" y="452437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Catat perubahan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AF5310-B9E3-42CE-B76B-38A7758DCB21}"/>
              </a:ext>
            </a:extLst>
          </p:cNvPr>
          <p:cNvSpPr>
            <a:spLocks noGrp="1"/>
          </p:cNvSpPr>
          <p:nvPr/>
        </p:nvSpPr>
        <p:spPr>
          <a:xfrm>
            <a:off x="7191375" y="4962525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Simpan nilai awal, hasil, alasan, dan bukti.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8505D-C368-485F-AE32-D37B9217C67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9E2DDD-8E33-4296-BB4F-5813D3F69D69}"/>
              </a:ext>
            </a:extLst>
          </p:cNvPr>
          <p:cNvSpPr>
            <a:spLocks noGrp="1"/>
          </p:cNvSpPr>
          <p:nvPr/>
        </p:nvSpPr>
        <p:spPr>
          <a:xfrm>
            <a:off x="11391900" y="647700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743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5B4AE-826A-4077-8F7F-FB372DA992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Demonstrasi Data Mentah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AC11B3-0B54-4394-A127-EA5CE10844ED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Dataset fiktif kebiasaan belajar siswa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5700" y="266843"/>
            <a:ext cx="457200" cy="456914"/>
          </a:xfrm>
          <a:prstGeom prst="rect">
            <a:avLst/>
          </a:prstGeom>
        </p:spPr>
      </p:pic>
      <p:graphicFrame>
        <p:nvGraphicFramePr>
          <p:cNvPr id="11" name="Table 10"/>
          <p:cNvGraphicFramePr/>
          <p:nvPr/>
        </p:nvGraphicFramePr>
        <p:xfrm>
          <a:off x="523875" y="1524000"/>
          <a:ext cx="11144250" cy="3429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KODE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TANGGAL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DURASI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135"/>
                          </a:solidFill>
                          <a:latin typeface="Aptos"/>
                          <a:ea typeface="Aptos"/>
                          <a:cs typeface="Aptos"/>
                        </a:rPr>
                        <a:t>TEMUAN AWAL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 belum baku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 menit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Kategori berbeda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09-09-26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(kosong)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Durasi kosong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09-09-26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(kosong)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Kemungkinan ganda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S04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 tidak masuk akal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2AEA441-6F59-4BB7-82C2-3F1514888000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9906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14000"/>
              </a:lnSpc>
              <a:buNone/>
              <a:defRPr sz="165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1E"/>
                </a:solidFill>
                <a:latin typeface="Aptos"/>
                <a:ea typeface="Aptos"/>
                <a:cs typeface="Aptos"/>
              </a:rPr>
              <a:t>Pertanyaan</a:t>
            </a:r>
            <a:r>
              <a:rPr lang="en-US" sz="1650" b="1">
                <a:solidFill>
                  <a:srgbClr val="18231E"/>
                </a:solidFill>
                <a:latin typeface="Aptos"/>
                <a:ea typeface="Aptos"/>
                <a:cs typeface="Aptos"/>
              </a:rPr>
              <a:t>.</a:t>
            </a:r>
            <a:endParaRPr sz="1650" b="1">
              <a:solidFill>
                <a:srgbClr val="18231E"/>
              </a:solidFill>
              <a:latin typeface="Aptos"/>
              <a:ea typeface="Aptos"/>
              <a:cs typeface="Aptos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8231E"/>
                </a:solidFill>
                <a:latin typeface="Aptos"/>
                <a:ea typeface="Aptos"/>
                <a:cs typeface="Aptos"/>
              </a:rPr>
              <a:t>Mana yang dapat langsung diseragamkan?</a:t>
            </a:r>
          </a:p>
          <a:p>
            <a:pPr>
              <a:lnSpc>
                <a:spcPct val="114000"/>
              </a:lnSpc>
              <a:buNone/>
              <a:defRPr sz="165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8231E"/>
                </a:solidFill>
                <a:latin typeface="Aptos"/>
                <a:ea typeface="Aptos"/>
                <a:cs typeface="Aptos"/>
              </a:rPr>
              <a:t>Mana yang harus dikonfirmasi kepada sumber?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DDEFFE-D34E-4893-BB18-8FAEC49E1E0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01B6F-848C-4CD9-A6E9-390E2AF46A35}"/>
              </a:ext>
            </a:extLst>
          </p:cNvPr>
          <p:cNvSpPr>
            <a:spLocks noGrp="1"/>
          </p:cNvSpPr>
          <p:nvPr/>
        </p:nvSpPr>
        <p:spPr>
          <a:xfrm>
            <a:off x="11391900" y="647700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597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2F93352-772D-4542-85DA-7E0B83BDC16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300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Tugas Praktik Kelompok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94E3E-6112-4E55-8F4B-AB96695AFD39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Gunakan aturan yang sama untuk seluruh dataset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5700" y="266843"/>
            <a:ext cx="457200" cy="4569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C75877-8091-41A6-8E7F-379BAC973855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Produk yang dikumpulkan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73ABDE-FE26-4CB3-9A5D-7D239038D139}"/>
              </a:ext>
            </a:extLst>
          </p:cNvPr>
          <p:cNvSpPr>
            <a:spLocks noGrp="1"/>
          </p:cNvSpPr>
          <p:nvPr/>
        </p:nvSpPr>
        <p:spPr>
          <a:xfrm>
            <a:off x="714375" y="2333625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E3502-6B5D-4769-83F1-1855252CC1F9}"/>
              </a:ext>
            </a:extLst>
          </p:cNvPr>
          <p:cNvSpPr>
            <a:spLocks noGrp="1"/>
          </p:cNvSpPr>
          <p:nvPr/>
        </p:nvSpPr>
        <p:spPr>
          <a:xfrm>
            <a:off x="1571625" y="235267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Data mentah yang sudah diberi tanda masalah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B30A4B-F826-43FC-844F-EFF6DFF8052B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5461D-DE76-4559-97C5-2D84D5615033}"/>
              </a:ext>
            </a:extLst>
          </p:cNvPr>
          <p:cNvSpPr>
            <a:spLocks noGrp="1"/>
          </p:cNvSpPr>
          <p:nvPr/>
        </p:nvSpPr>
        <p:spPr>
          <a:xfrm>
            <a:off x="1571625" y="3352800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Dataset hasil pembersihan dan validasi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A085C2-E3F6-4A92-9E7D-85E3ED774C89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CE97D8-8D2C-4606-8049-DEEC0CFB5890}"/>
              </a:ext>
            </a:extLst>
          </p:cNvPr>
          <p:cNvSpPr>
            <a:spLocks noGrp="1"/>
          </p:cNvSpPr>
          <p:nvPr/>
        </p:nvSpPr>
        <p:spPr>
          <a:xfrm>
            <a:off x="1571625" y="4352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Catatan perubahan beserta alasan dan bukti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CFBA5-7B73-4878-AF03-91E00CA94939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75" b="1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Kriteria hasil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EDE50-5B38-4C0D-9606-E3DF6F819FDF}"/>
              </a:ext>
            </a:extLst>
          </p:cNvPr>
          <p:cNvSpPr>
            <a:spLocks noGrp="1"/>
          </p:cNvSpPr>
          <p:nvPr/>
        </p:nvSpPr>
        <p:spPr>
          <a:xfrm>
            <a:off x="6715125" y="2333625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7C45DA-CBCA-4AA9-8BB6-77E05DEC5807}"/>
              </a:ext>
            </a:extLst>
          </p:cNvPr>
          <p:cNvSpPr>
            <a:spLocks noGrp="1"/>
          </p:cNvSpPr>
          <p:nvPr/>
        </p:nvSpPr>
        <p:spPr>
          <a:xfrm>
            <a:off x="7381875" y="2333625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Aturan pembersihan tertulis jelas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E5775-32D8-4116-8640-51EC78F8F942}"/>
              </a:ext>
            </a:extLst>
          </p:cNvPr>
          <p:cNvSpPr>
            <a:spLocks noGrp="1"/>
          </p:cNvSpPr>
          <p:nvPr/>
        </p:nvSpPr>
        <p:spPr>
          <a:xfrm>
            <a:off x="6715125" y="3076575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4ED438-E8BD-4BCC-9545-F5834BBF60A8}"/>
              </a:ext>
            </a:extLst>
          </p:cNvPr>
          <p:cNvSpPr>
            <a:spLocks noGrp="1"/>
          </p:cNvSpPr>
          <p:nvPr/>
        </p:nvSpPr>
        <p:spPr>
          <a:xfrm>
            <a:off x="7381875" y="3076575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Nilai meragukan tidak ditebak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D8D21A-07A3-433E-BCB3-A680725F32BA}"/>
              </a:ext>
            </a:extLst>
          </p:cNvPr>
          <p:cNvSpPr>
            <a:spLocks noGrp="1"/>
          </p:cNvSpPr>
          <p:nvPr/>
        </p:nvSpPr>
        <p:spPr>
          <a:xfrm>
            <a:off x="6715125" y="3819525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FB10B-14E0-49E0-B760-70AAA4A3C441}"/>
              </a:ext>
            </a:extLst>
          </p:cNvPr>
          <p:cNvSpPr>
            <a:spLocks noGrp="1"/>
          </p:cNvSpPr>
          <p:nvPr/>
        </p:nvSpPr>
        <p:spPr>
          <a:xfrm>
            <a:off x="7381875" y="3819525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Data mentah tetap tersimpan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F0CA50-BB89-4705-8C43-634DDBA2A002}"/>
              </a:ext>
            </a:extLst>
          </p:cNvPr>
          <p:cNvSpPr>
            <a:spLocks noGrp="1"/>
          </p:cNvSpPr>
          <p:nvPr/>
        </p:nvSpPr>
        <p:spPr>
          <a:xfrm>
            <a:off x="6715125" y="4562475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176B4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6B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567B76-93A8-4EEB-B2E5-97677C5C7EE2}"/>
              </a:ext>
            </a:extLst>
          </p:cNvPr>
          <p:cNvSpPr>
            <a:spLocks noGrp="1"/>
          </p:cNvSpPr>
          <p:nvPr/>
        </p:nvSpPr>
        <p:spPr>
          <a:xfrm>
            <a:off x="7381875" y="4562475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 i="0">
                <a:solidFill>
                  <a:srgbClr val="18231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8231E"/>
                </a:solidFill>
                <a:latin typeface="Aptos"/>
                <a:ea typeface="Aptos"/>
                <a:cs typeface="Aptos"/>
              </a:rPr>
              <a:t>Kelompok lain dapat memeriksa perubahan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A81DB1-07C4-4CA9-B90B-CC1FACD3E92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Setiap perubahan membutuhkan aturan atau bukti.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E89508-B8CF-4AE5-BD4F-3393F206A5A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0F51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F5135"/>
                </a:solidFill>
                <a:latin typeface="Aptos"/>
                <a:ea typeface="Aptos"/>
                <a:cs typeface="Aptos"/>
              </a:rPr>
              <a:t>INFORMATIKA KELAS 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2F9DBA-BE6E-45F6-B112-778AA4DCAA52}"/>
              </a:ext>
            </a:extLst>
          </p:cNvPr>
          <p:cNvSpPr>
            <a:spLocks noGrp="1"/>
          </p:cNvSpPr>
          <p:nvPr/>
        </p:nvSpPr>
        <p:spPr>
          <a:xfrm>
            <a:off x="11391900" y="6477000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5E6A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E6A6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07110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DocSecurity>0</DocSecurity>
  <PresentationFormat>Widescreen</PresentationFormat>
  <Paragraphs>162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yodi awan</cp:lastModifiedBy>
  <cp:revision>1</cp:revision>
  <dcterms:created xsi:type="dcterms:W3CDTF">2026-09-27T20:37:38Z</dcterms:created>
  <dcterms:modified xsi:type="dcterms:W3CDTF">2026-09-27T21:29:41Z</dcterms:modified>
</cp:coreProperties>
</file>